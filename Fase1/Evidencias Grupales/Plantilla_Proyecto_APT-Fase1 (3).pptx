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embeddedFontLst>
    <p:embeddedFont>
      <p:font typeface="Franklin Gothic"/>
      <p:bold r:id="rId28"/>
    </p:embeddedFont>
    <p:embeddedFont>
      <p:font typeface="Bebas Neue"/>
      <p:regular r:id="rId29"/>
    </p:embeddedFont>
    <p:embeddedFont>
      <p:font typeface="Roboto Condensed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6an3+B0rlldqlufNOUdTvMiZN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ranklinGothic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-bold.fntdata"/><Relationship Id="rId30" Type="http://schemas.openxmlformats.org/officeDocument/2006/relationships/font" Target="fonts/RobotoCondensed-regular.fntdata"/><Relationship Id="rId11" Type="http://schemas.openxmlformats.org/officeDocument/2006/relationships/slide" Target="slides/slide6.xml"/><Relationship Id="rId33" Type="http://schemas.openxmlformats.org/officeDocument/2006/relationships/font" Target="fonts/RobotoCondensed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Condensed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de1804a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9de1804a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de1804a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9de1804a9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e560804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9e5608042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e56080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9e5608042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de1804a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9de1804a9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e560804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9e5608042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000"/>
              <a:t>Fase1 Proyecto APT</a:t>
            </a:r>
            <a:br>
              <a:rPr lang="en-US" sz="4000"/>
            </a:br>
            <a:br>
              <a:rPr lang="en-US" sz="4000"/>
            </a:br>
            <a:br>
              <a:rPr lang="en-US" sz="2000"/>
            </a:br>
            <a:r>
              <a:rPr b="1" lang="en-US" sz="2000"/>
              <a:t>Docente:</a:t>
            </a:r>
            <a:r>
              <a:rPr lang="en-US" sz="2000"/>
              <a:t>Reginaldo Salinas Bruna</a:t>
            </a:r>
            <a:br>
              <a:rPr lang="en-US" sz="2000"/>
            </a:br>
            <a:r>
              <a:rPr lang="en-US" sz="2000"/>
              <a:t>Grupo Nº:4</a:t>
            </a:r>
            <a:br>
              <a:rPr lang="en-US" sz="2000"/>
            </a:br>
            <a:r>
              <a:rPr lang="en-US" sz="2000"/>
              <a:t>Integrantes:</a:t>
            </a:r>
            <a:br>
              <a:rPr lang="en-US" sz="2000"/>
            </a:br>
            <a:r>
              <a:rPr lang="en-US" sz="2000"/>
              <a:t>Tiare Gomez </a:t>
            </a:r>
            <a:br>
              <a:rPr lang="en-US" sz="2000"/>
            </a:br>
            <a:r>
              <a:rPr lang="en-US" sz="2000"/>
              <a:t>Antonino Puccio </a:t>
            </a:r>
            <a:br>
              <a:rPr lang="en-US" sz="2000"/>
            </a:br>
            <a:r>
              <a:rPr lang="en-US" sz="2000"/>
              <a:t>Alonso Zavala</a:t>
            </a:r>
            <a:br>
              <a:rPr lang="en-US" sz="2000"/>
            </a:br>
            <a:br>
              <a:rPr lang="en-US" sz="2000"/>
            </a:b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283000" y="1451750"/>
            <a:ext cx="83343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El proyecto consiste en el desarrollo de una plataforma web moderna y centralizada para el Sindicato PYC, diseñada para resolver la fragmentación y falta de trazabilidad en la comunicación entre la directiva y sus socios. En su primera fase funcional (MVP), la solución implementa un ecosistema de acceso seguro mediante autenticación basada en roles, un </a:t>
            </a:r>
            <a:r>
              <a:rPr i="1" lang="en-US" sz="1900"/>
              <a:t>dashboard</a:t>
            </a:r>
            <a:r>
              <a:rPr lang="en-US" sz="1900"/>
              <a:t> interactivo que consolida indicadores económicos clave, y un módulo de soporte automatizado (</a:t>
            </a:r>
            <a:r>
              <a:rPr i="1" lang="en-US" sz="1900"/>
              <a:t>ticketing</a:t>
            </a:r>
            <a:r>
              <a:rPr lang="en-US" sz="1900"/>
              <a:t>) que gestiona los requerimientos de los usuarios a través de notificaciones instantáneas por correo electrónico. Esta estructuración técnica busca establecer un canal digital confiable y escalable, mejorando la experiencia del usuario y optimizando los tiempos de respuesta de la gestión gremial.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Desde la perspectiva del campo laboral informático, este desarrollo es altamente relevante ya que exige la integración de arquitecturas modernas en la nube (BaaS), consumo de APIs y modelado seguro de datos para resolver problemáticas organizacionales reales. 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218575" y="1223975"/>
            <a:ext cx="8758800" cy="5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Arquitectura:</a:t>
            </a:r>
            <a:r>
              <a:rPr lang="en-US" sz="1900"/>
              <a:t> Implementación de modelos desacoplados utilizando servicios en la nube (</a:t>
            </a:r>
            <a:r>
              <a:rPr i="1" lang="en-US" sz="1900"/>
              <a:t>Backend as a Service</a:t>
            </a:r>
            <a:r>
              <a:rPr lang="en-US" sz="1900"/>
              <a:t> con Supabase) para optimizar la escalabilidad.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Modelamiento</a:t>
            </a:r>
            <a:r>
              <a:rPr b="1" lang="en-US" sz="1900"/>
              <a:t> de base de datos:</a:t>
            </a:r>
            <a:r>
              <a:rPr lang="en-US" sz="1900"/>
              <a:t> Estructuración y normalización de modelos relacionales en PostgreSQL, aplicando políticas estrictas de seguridad a nivel de fila (RLS).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Programación Web/Móvil:</a:t>
            </a:r>
            <a:r>
              <a:rPr lang="en-US" sz="1900"/>
              <a:t> Construcción de interfaces responsivas, modulares y centradas en la experiencia del usuario (UX) mediante </a:t>
            </a:r>
            <a:r>
              <a:rPr i="1" lang="en-US" sz="1900"/>
              <a:t>frameworks</a:t>
            </a:r>
            <a:r>
              <a:rPr lang="en-US" sz="1900"/>
              <a:t> modernos (Next.js y Tailwind CSS).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Gestión de proyectos informáticos:</a:t>
            </a:r>
            <a:r>
              <a:rPr lang="en-US" sz="1900"/>
              <a:t> Aplicación de metodologías ágiles (Scrum) para asegurar entregas de valor continuo mediante la trazabilidad de requerimientos y el control de Sprints.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Factibilidad del Proyecto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177150" y="1075600"/>
            <a:ext cx="8738100" cy="54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Alcance Acotado (MVP):</a:t>
            </a:r>
            <a:r>
              <a:rPr lang="en-US" sz="1900"/>
              <a:t> Enfoque exclusivo en autenticación, </a:t>
            </a:r>
            <a:r>
              <a:rPr i="1" lang="en-US" sz="1900"/>
              <a:t>dashboard</a:t>
            </a:r>
            <a:r>
              <a:rPr lang="en-US" sz="1900"/>
              <a:t> interactivo y soporte automatizado, eliminando funciones que excedan el semestre.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Cumplimiento de Plazos:</a:t>
            </a:r>
            <a:r>
              <a:rPr lang="en-US" sz="1900"/>
              <a:t> Definición realista del producto que garantiza el desarrollo y la entrega funcional dentro de los tiempos exigidos por la asignatura.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Arquitectura Eficiente:</a:t>
            </a:r>
            <a:r>
              <a:rPr lang="en-US" sz="1900"/>
              <a:t> Uso de un </a:t>
            </a:r>
            <a:r>
              <a:rPr i="1" lang="en-US" sz="1900"/>
              <a:t>Backend as a Service</a:t>
            </a:r>
            <a:r>
              <a:rPr lang="en-US" sz="1900"/>
              <a:t> (Supabase) y servicios transaccionales en la nube (EmailJS) para delegar la creación de servidores.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Optimización de Recursos:</a:t>
            </a:r>
            <a:r>
              <a:rPr lang="en-US" sz="1900"/>
              <a:t> Aceleración del trabajo del equipo técnico, logrando una solución robusta sin comprometer los estándares de seguridad y rendimiento.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104675" y="1161875"/>
            <a:ext cx="8717400" cy="54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/>
              <a:t>Objetivo General</a:t>
            </a:r>
            <a:r>
              <a:rPr lang="en-US" sz="1900"/>
              <a:t> Desarrollar un portal web centralizado, seguro y escalable para el Sindicato PYC, resolviendo la necesidad de optimizar la comunicación y la gestión de requerimientos entre la directiva y los socios.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/>
              <a:t>Objetivos Específicos (MVP)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Autenticación y Seguridad:</a:t>
            </a:r>
            <a:r>
              <a:rPr lang="en-US" sz="1900"/>
              <a:t> Implementar un sistema de control de acceso robusto basado en roles utilizando Supabase Auth.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Visualización de Datos:</a:t>
            </a:r>
            <a:r>
              <a:rPr lang="en-US" sz="1900"/>
              <a:t> Construir un </a:t>
            </a:r>
            <a:r>
              <a:rPr i="1" lang="en-US" sz="1900"/>
              <a:t>dashboard</a:t>
            </a:r>
            <a:r>
              <a:rPr lang="en-US" sz="1900"/>
              <a:t> interactivo que consolide de manera eficiente los indicadores económicos clave.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Automatización de Soporte:</a:t>
            </a:r>
            <a:r>
              <a:rPr lang="en-US" sz="1900"/>
              <a:t> Desplegar un módulo de </a:t>
            </a:r>
            <a:r>
              <a:rPr i="1" lang="en-US" sz="1900"/>
              <a:t>ticketing</a:t>
            </a:r>
            <a:r>
              <a:rPr lang="en-US" sz="1900"/>
              <a:t> trazable con envío de notificaciones instantáneas mediante la API de EmailJS.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del Proyecto</a:t>
            </a:r>
            <a:endParaRPr/>
          </a:p>
        </p:txBody>
      </p:sp>
      <p:sp>
        <p:nvSpPr>
          <p:cNvPr id="115" name="Google Shape;115;p11"/>
          <p:cNvSpPr txBox="1"/>
          <p:nvPr/>
        </p:nvSpPr>
        <p:spPr>
          <a:xfrm>
            <a:off x="125400" y="1161875"/>
            <a:ext cx="8748600" cy="5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/>
              <a:t>Metodología de Trabajo (Scrum)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Marco de Trabajo Ágil:</a:t>
            </a:r>
            <a:r>
              <a:rPr lang="en-US" sz="1900"/>
              <a:t> Gestión iterativa e incremental basada en Scrum, orientada a la entrega temprana y continua de valor funcional.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Planificación y Seguimiento:</a:t>
            </a:r>
            <a:r>
              <a:rPr lang="en-US" sz="1900"/>
              <a:t> Administración del proyecto mediante un </a:t>
            </a:r>
            <a:r>
              <a:rPr i="1" lang="en-US" sz="1900"/>
              <a:t>backlog</a:t>
            </a:r>
            <a:r>
              <a:rPr lang="en-US" sz="1900"/>
              <a:t> priorizado en </a:t>
            </a:r>
            <a:r>
              <a:rPr b="1" lang="en-US" sz="1900"/>
              <a:t>Jira</a:t>
            </a:r>
            <a:r>
              <a:rPr lang="en-US" sz="1900"/>
              <a:t>, estructurado a través de Historias de Usuario con Criterios de Aceptación definidos.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Trazabilidad Técnica:</a:t>
            </a:r>
            <a:r>
              <a:rPr lang="en-US" sz="1900"/>
              <a:t> Control riguroso de cada ciclo de trabajo (Sprint) para asegurar la coherencia entre el diseño de la arquitectura inicial y el desarrollo del MVP.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del Proyecto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228925" y="1117000"/>
            <a:ext cx="8748300" cy="56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Duración y Enfoque:</a:t>
            </a:r>
            <a:r>
              <a:rPr lang="en-US" sz="1900"/>
              <a:t> Organización secuencial e iterativa definida mediante </a:t>
            </a:r>
            <a:r>
              <a:rPr i="1" lang="en-US" sz="1900"/>
              <a:t>Sprints</a:t>
            </a:r>
            <a:r>
              <a:rPr lang="en-US" sz="1900"/>
              <a:t> para controlar el avance progresivo del MVP.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Recursos Asignados:</a:t>
            </a:r>
            <a:r>
              <a:rPr lang="en-US" sz="1900"/>
              <a:t> Provisión de recursos humanos y tecnológicos, abarcando desde el diseño de arquitectura (DER) hasta la configuración en Next.js y Jira.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Facilitadores:</a:t>
            </a:r>
            <a:r>
              <a:rPr lang="en-US" sz="1900"/>
              <a:t> Adopción de una arquitectura BaaS (Supabase) que delega la infraestructura y acelera significativamente el despliegue.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/>
              <a:t>Obstaculizadores:</a:t>
            </a:r>
            <a:r>
              <a:rPr lang="en-US" sz="1900"/>
              <a:t> Posibles límites de consumo en APIs de terceros (EmailJS), los cuales serán mitigados con manejo de errores en el cliente para mantener los estándares de calidad.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75" y="1397275"/>
            <a:ext cx="649605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de1804a9_0_27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43" name="Google Shape;143;g3f9de1804a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0875"/>
            <a:ext cx="11193877" cy="530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de1804a9_0_50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49" name="Google Shape;149;g3f9de1804a9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125"/>
            <a:ext cx="8839198" cy="424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e5608042_0_8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55" name="Google Shape;155;g3f9e5608042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514475"/>
            <a:ext cx="791527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9e5608042_0_15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61" name="Google Shape;161;g3f9e560804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1175"/>
            <a:ext cx="8839198" cy="427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9de1804a9_0_35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67" name="Google Shape;167;g3f9de1804a9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125"/>
            <a:ext cx="8839200" cy="460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e5608042_0_21"/>
          <p:cNvSpPr txBox="1"/>
          <p:nvPr>
            <p:ph type="title"/>
          </p:nvPr>
        </p:nvSpPr>
        <p:spPr>
          <a:xfrm>
            <a:off x="1763699" y="212725"/>
            <a:ext cx="42882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pic>
        <p:nvPicPr>
          <p:cNvPr id="173" name="Google Shape;173;g3f9e5608042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125"/>
            <a:ext cx="8839198" cy="383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/>
            </a:br>
            <a:r>
              <a:rPr lang="en-US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